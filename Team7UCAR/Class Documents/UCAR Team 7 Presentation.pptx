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Nuni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fntdata"/><Relationship Id="rId14" Type="http://schemas.openxmlformats.org/officeDocument/2006/relationships/font" Target="fonts/Nunito-regular.fntdata"/><Relationship Id="rId17" Type="http://schemas.openxmlformats.org/officeDocument/2006/relationships/font" Target="fonts/Nunito-boldItalic.fntdata"/><Relationship Id="rId16"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14fdc52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914fdc52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14fdc529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14fdc529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14fdc5293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14fdc5293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14fdc5293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14fdc5293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14fdc529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14fdc529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14fdc529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914fdc529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14fdc5293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914fdc5293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91353" y="1847708"/>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UCAR Team 7 Presentation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Member Introductions</a:t>
            </a:r>
            <a:endParaRPr/>
          </a:p>
        </p:txBody>
      </p:sp>
      <p:sp>
        <p:nvSpPr>
          <p:cNvPr id="134" name="Google Shape;134;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Name</a:t>
            </a:r>
            <a:endParaRPr sz="2200"/>
          </a:p>
          <a:p>
            <a:pPr indent="-368300" lvl="0" marL="457200" rtl="0" algn="l">
              <a:spcBef>
                <a:spcPts val="0"/>
              </a:spcBef>
              <a:spcAft>
                <a:spcPts val="0"/>
              </a:spcAft>
              <a:buSzPts val="2200"/>
              <a:buChar char="●"/>
            </a:pPr>
            <a:r>
              <a:rPr lang="en" sz="2200"/>
              <a:t>Interests</a:t>
            </a:r>
            <a:endParaRPr sz="2200"/>
          </a:p>
          <a:p>
            <a:pPr indent="-368300" lvl="0" marL="457200" rtl="0" algn="l">
              <a:spcBef>
                <a:spcPts val="0"/>
              </a:spcBef>
              <a:spcAft>
                <a:spcPts val="0"/>
              </a:spcAft>
              <a:buSzPts val="2200"/>
              <a:buChar char="●"/>
            </a:pPr>
            <a:r>
              <a:rPr lang="en" sz="2200"/>
              <a:t>Where you are from</a:t>
            </a:r>
            <a:endParaRPr sz="2200"/>
          </a:p>
          <a:p>
            <a:pPr indent="-368300" lvl="0" marL="457200" rtl="0" algn="l">
              <a:spcBef>
                <a:spcPts val="0"/>
              </a:spcBef>
              <a:spcAft>
                <a:spcPts val="0"/>
              </a:spcAft>
              <a:buSzPts val="2200"/>
              <a:buChar char="●"/>
            </a:pPr>
            <a:r>
              <a:rPr lang="en" sz="2200"/>
              <a:t>Experience</a:t>
            </a:r>
            <a:endParaRPr sz="2200"/>
          </a:p>
          <a:p>
            <a:pPr indent="-368300" lvl="0" marL="457200" rtl="0" algn="l">
              <a:spcBef>
                <a:spcPts val="0"/>
              </a:spcBef>
              <a:spcAft>
                <a:spcPts val="0"/>
              </a:spcAft>
              <a:buSzPts val="2200"/>
              <a:buChar char="●"/>
            </a:pPr>
            <a:r>
              <a:rPr lang="en" sz="2200"/>
              <a:t>Favorite Activity</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Sponsoring organization</a:t>
            </a:r>
            <a:endParaRPr/>
          </a:p>
          <a:p>
            <a:pPr indent="0" lvl="0" marL="0" rtl="0" algn="l">
              <a:spcBef>
                <a:spcPts val="0"/>
              </a:spcBef>
              <a:spcAft>
                <a:spcPts val="0"/>
              </a:spcAft>
              <a:buNone/>
            </a:pPr>
            <a:r>
              <a:rPr lang="en"/>
              <a:t>introduction</a:t>
            </a:r>
            <a:endParaRPr/>
          </a:p>
        </p:txBody>
      </p:sp>
      <p:sp>
        <p:nvSpPr>
          <p:cNvPr id="140" name="Google Shape;140;p15"/>
          <p:cNvSpPr txBox="1"/>
          <p:nvPr>
            <p:ph idx="1" type="body"/>
          </p:nvPr>
        </p:nvSpPr>
        <p:spPr>
          <a:xfrm>
            <a:off x="819150" y="1990725"/>
            <a:ext cx="6102600" cy="29358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None/>
            </a:pPr>
            <a:r>
              <a:rPr b="1" lang="en" sz="1900"/>
              <a:t>UCAR stands for the University Corporation of Atmospheric Research. They oversee the National Science Foundation's National Center for Atmospheric Research (NSF NCAR) and work with universities to further research into atmospheric sciences and earth sciences. They also participate in advocacy for the earth system sciences, and work to further education regarding those fields at all levels of education.</a:t>
            </a:r>
            <a:endParaRPr b="1" sz="1900"/>
          </a:p>
        </p:txBody>
      </p:sp>
      <p:pic>
        <p:nvPicPr>
          <p:cNvPr id="141" name="Google Shape;141;p15"/>
          <p:cNvPicPr preferRelativeResize="0"/>
          <p:nvPr/>
        </p:nvPicPr>
        <p:blipFill>
          <a:blip r:embed="rId3">
            <a:alphaModFix/>
          </a:blip>
          <a:stretch>
            <a:fillRect/>
          </a:stretch>
        </p:blipFill>
        <p:spPr>
          <a:xfrm>
            <a:off x="7036746" y="3021371"/>
            <a:ext cx="1905000" cy="1905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Sponsoring organization</a:t>
            </a:r>
            <a:endParaRPr/>
          </a:p>
          <a:p>
            <a:pPr indent="0" lvl="0" marL="0" rtl="0" algn="l">
              <a:spcBef>
                <a:spcPts val="0"/>
              </a:spcBef>
              <a:spcAft>
                <a:spcPts val="0"/>
              </a:spcAft>
              <a:buNone/>
            </a:pPr>
            <a:r>
              <a:rPr lang="en"/>
              <a:t>mission &amp; vision</a:t>
            </a:r>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 sz="8150"/>
              <a:t>Mission: </a:t>
            </a:r>
            <a:r>
              <a:rPr lang="en" sz="8150">
                <a:solidFill>
                  <a:srgbClr val="323133"/>
                </a:solidFill>
                <a:highlight>
                  <a:srgbClr val="FFFFFF"/>
                </a:highlight>
                <a:latin typeface="Arial"/>
                <a:ea typeface="Arial"/>
                <a:cs typeface="Arial"/>
                <a:sym typeface="Arial"/>
              </a:rPr>
              <a:t>We develop state-of-the-art educational experiences that connect NSF NCAR &amp; UCAR science to a broad community of learners, creating pathways towards a scientifically literate society.</a:t>
            </a:r>
            <a:endParaRPr sz="8150">
              <a:solidFill>
                <a:srgbClr val="323133"/>
              </a:solidFill>
              <a:highlight>
                <a:srgbClr val="FFFFFF"/>
              </a:highlight>
              <a:latin typeface="Arial"/>
              <a:ea typeface="Arial"/>
              <a:cs typeface="Arial"/>
              <a:sym typeface="Arial"/>
            </a:endParaRPr>
          </a:p>
          <a:p>
            <a:pPr indent="0" lvl="0" marL="0" rtl="0" algn="l">
              <a:spcBef>
                <a:spcPts val="1200"/>
              </a:spcBef>
              <a:spcAft>
                <a:spcPts val="0"/>
              </a:spcAft>
              <a:buNone/>
            </a:pPr>
            <a:r>
              <a:t/>
            </a:r>
            <a:endParaRPr sz="8150">
              <a:solidFill>
                <a:srgbClr val="000000"/>
              </a:solidFill>
              <a:latin typeface="Arial"/>
              <a:ea typeface="Arial"/>
              <a:cs typeface="Arial"/>
              <a:sym typeface="Arial"/>
            </a:endParaRPr>
          </a:p>
          <a:p>
            <a:pPr indent="0" lvl="0" marL="0" rtl="0" algn="l">
              <a:spcBef>
                <a:spcPts val="0"/>
              </a:spcBef>
              <a:spcAft>
                <a:spcPts val="0"/>
              </a:spcAft>
              <a:buNone/>
            </a:pPr>
            <a:r>
              <a:rPr b="1" lang="en" sz="8150"/>
              <a:t>Vision: </a:t>
            </a:r>
            <a:r>
              <a:rPr lang="en" sz="8150">
                <a:solidFill>
                  <a:srgbClr val="323133"/>
                </a:solidFill>
                <a:highlight>
                  <a:srgbClr val="FFFFFF"/>
                </a:highlight>
                <a:latin typeface="Arial"/>
                <a:ea typeface="Arial"/>
                <a:cs typeface="Arial"/>
                <a:sym typeface="Arial"/>
              </a:rPr>
              <a:t>Engaging all learners to explore and understand our changing world.</a:t>
            </a:r>
            <a:endParaRPr sz="8150">
              <a:solidFill>
                <a:srgbClr val="323133"/>
              </a:solidFill>
              <a:highlight>
                <a:srgbClr val="FFFFFF"/>
              </a:highlight>
              <a:latin typeface="Arial"/>
              <a:ea typeface="Arial"/>
              <a:cs typeface="Arial"/>
              <a:sym typeface="Arial"/>
            </a:endParaRPr>
          </a:p>
          <a:p>
            <a:pPr indent="0" lvl="0" marL="0" rtl="0" algn="l">
              <a:spcBef>
                <a:spcPts val="1200"/>
              </a:spcBef>
              <a:spcAft>
                <a:spcPts val="0"/>
              </a:spcAft>
              <a:buNone/>
            </a:pPr>
            <a:r>
              <a:t/>
            </a:r>
            <a:endParaRPr b="1" sz="2000"/>
          </a:p>
          <a:p>
            <a:pPr indent="0" lvl="0" marL="0" rtl="0" algn="l">
              <a:spcBef>
                <a:spcPts val="1200"/>
              </a:spcBef>
              <a:spcAft>
                <a:spcPts val="1200"/>
              </a:spcAft>
              <a:buNone/>
            </a:pPr>
            <a:r>
              <a:t/>
            </a:r>
            <a:endParaRPr b="1"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410400" y="433100"/>
            <a:ext cx="2979000" cy="627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a:t>
            </a:r>
            <a:endParaRPr/>
          </a:p>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3">
            <a:alphaModFix/>
          </a:blip>
          <a:srcRect b="47067" l="0" r="0" t="0"/>
          <a:stretch/>
        </p:blipFill>
        <p:spPr>
          <a:xfrm>
            <a:off x="410400" y="1557175"/>
            <a:ext cx="4335401" cy="2308975"/>
          </a:xfrm>
          <a:prstGeom prst="rect">
            <a:avLst/>
          </a:prstGeom>
          <a:noFill/>
          <a:ln>
            <a:noFill/>
          </a:ln>
        </p:spPr>
      </p:pic>
      <p:pic>
        <p:nvPicPr>
          <p:cNvPr id="154" name="Google Shape;154;p17"/>
          <p:cNvPicPr preferRelativeResize="0"/>
          <p:nvPr/>
        </p:nvPicPr>
        <p:blipFill rotWithShape="1">
          <a:blip r:embed="rId3">
            <a:alphaModFix/>
          </a:blip>
          <a:srcRect b="0" l="0" r="0" t="51781"/>
          <a:stretch/>
        </p:blipFill>
        <p:spPr>
          <a:xfrm>
            <a:off x="4745800" y="1805050"/>
            <a:ext cx="4178051" cy="20270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a:t>
            </a:r>
            <a:endParaRPr/>
          </a:p>
          <a:p>
            <a:pPr indent="0" lvl="0" marL="0" rtl="0" algn="l">
              <a:spcBef>
                <a:spcPts val="0"/>
              </a:spcBef>
              <a:spcAft>
                <a:spcPts val="0"/>
              </a:spcAft>
              <a:buNone/>
            </a:pPr>
            <a:r>
              <a:t/>
            </a:r>
            <a:endParaRPr/>
          </a:p>
        </p:txBody>
      </p:sp>
      <p:pic>
        <p:nvPicPr>
          <p:cNvPr id="160" name="Google Shape;160;p18"/>
          <p:cNvPicPr preferRelativeResize="0"/>
          <p:nvPr/>
        </p:nvPicPr>
        <p:blipFill>
          <a:blip r:embed="rId3">
            <a:alphaModFix/>
          </a:blip>
          <a:stretch>
            <a:fillRect/>
          </a:stretch>
        </p:blipFill>
        <p:spPr>
          <a:xfrm>
            <a:off x="1454062" y="1464697"/>
            <a:ext cx="6235875" cy="3414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overview</a:t>
            </a:r>
            <a:endParaRPr/>
          </a:p>
        </p:txBody>
      </p:sp>
      <p:pic>
        <p:nvPicPr>
          <p:cNvPr id="166" name="Google Shape;166;p19"/>
          <p:cNvPicPr preferRelativeResize="0"/>
          <p:nvPr/>
        </p:nvPicPr>
        <p:blipFill>
          <a:blip r:embed="rId3">
            <a:alphaModFix/>
          </a:blip>
          <a:stretch>
            <a:fillRect/>
          </a:stretch>
        </p:blipFill>
        <p:spPr>
          <a:xfrm>
            <a:off x="1493125" y="1413950"/>
            <a:ext cx="6157749" cy="3475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The End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